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90F08A-5190-4762-B506-DD0FD2D66F98}" v="10" dt="2026-05-04T22:18:19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48" autoAdjust="0"/>
  </p:normalViewPr>
  <p:slideViewPr>
    <p:cSldViewPr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87" d="100"/>
          <a:sy n="87" d="100"/>
        </p:scale>
        <p:origin x="700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focuses on predicting booking cancellations using machine learning models and evaluating their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25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models were trained and evaluated using standard classification metrics to compare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03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06196"/>
            <a:ext cx="4352927" cy="114227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472" y="606196"/>
            <a:ext cx="4352927" cy="114227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09600" y="322731"/>
            <a:ext cx="914400" cy="283464"/>
          </a:xfrm>
        </p:spPr>
        <p:txBody>
          <a:bodyPr anchor="ctr"/>
          <a:lstStyle/>
          <a:p>
            <a:fld id="{59722DCF-3C86-4CA9-A79C-7A01DC917267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514600" y="322731"/>
            <a:ext cx="7162800" cy="283464"/>
          </a:xfrm>
        </p:spPr>
        <p:txBody>
          <a:bodyPr anchor="ctr"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68000" y="322731"/>
            <a:ext cx="914399" cy="283464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132520"/>
            <a:ext cx="10972800" cy="411588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9787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15CB-5A42-4381-B4B5-1F0A0AD684E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54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4840225"/>
            <a:ext cx="10963658" cy="7996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5845175"/>
            <a:ext cx="10963658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D2EC77-EDF2-486F-BC40-B49DAB22DB6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647700"/>
            <a:ext cx="10972800" cy="380847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0569" y="606195"/>
            <a:ext cx="4045735" cy="39985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0569" y="4870174"/>
            <a:ext cx="3755116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346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2E3648-85D4-4FD7-B855-79C521A61C6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 anchor="ctr"/>
          <a:lstStyle>
            <a:lvl1pPr algn="ctr">
              <a:defRPr/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609600"/>
            <a:ext cx="6534582" cy="56388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51058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0" y="1411358"/>
            <a:ext cx="3352800" cy="284556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8973" y="4403039"/>
            <a:ext cx="334733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599" y="322731"/>
            <a:ext cx="914401" cy="286868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47E6C56-E35A-43C4-BAC8-C635905FE14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6869"/>
          </a:xfrm>
        </p:spPr>
        <p:txBody>
          <a:bodyPr anchor="ctr"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6869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1371600"/>
            <a:ext cx="7239001" cy="48768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54030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3892269" cy="327659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032606"/>
            <a:ext cx="3177209" cy="87123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09600" y="322731"/>
            <a:ext cx="914400" cy="283464"/>
          </a:xfrm>
        </p:spPr>
        <p:txBody>
          <a:bodyPr anchor="ctr"/>
          <a:lstStyle/>
          <a:p>
            <a:fld id="{111FFCFE-B194-4E5A-862C-339E8FEE713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514600" y="322731"/>
            <a:ext cx="7162800" cy="283464"/>
          </a:xfrm>
        </p:spPr>
        <p:txBody>
          <a:bodyPr anchor="ctr"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68000" y="322731"/>
            <a:ext cx="914399" cy="283464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11574" y="1371600"/>
            <a:ext cx="6470826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57919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371600"/>
            <a:ext cx="10049256" cy="35052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76800"/>
            <a:ext cx="7769354" cy="1371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BACA-C806-48AD-B735-075EFFDC0FB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42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401420"/>
            <a:ext cx="9140954" cy="28367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622197"/>
            <a:ext cx="7312153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6869"/>
          </a:xfrm>
        </p:spPr>
        <p:txBody>
          <a:bodyPr/>
          <a:lstStyle/>
          <a:p>
            <a:fld id="{28F25336-016D-4162-B545-E54B089028A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9" y="322731"/>
            <a:ext cx="7150608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1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71600"/>
            <a:ext cx="8229600" cy="2567855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375642"/>
            <a:ext cx="7588155" cy="1029310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DBA1-4626-47FC-856E-159D7E28D49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696" y="322731"/>
            <a:ext cx="7150608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417671"/>
            <a:ext cx="7909560" cy="48307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1F2818-3D93-3C9A-E504-3D8A33F2B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C3C3-8EE0-4646-AF47-12E3116D59C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C970B7-D89D-4042-9AC8-32C22BDD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A35D86-D074-E057-C950-943CC0E1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965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6" y="1371600"/>
            <a:ext cx="8470605" cy="104143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2E1C-7EB3-405E-81B2-32E332CACA0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2797083"/>
            <a:ext cx="8470605" cy="345131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685800" indent="-4572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01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5" y="1371600"/>
            <a:ext cx="5916508" cy="105210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3464"/>
          </a:xfrm>
        </p:spPr>
        <p:txBody>
          <a:bodyPr/>
          <a:lstStyle/>
          <a:p>
            <a:fld id="{1FE93670-5DDA-427C-9657-21A216413B9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08304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1371599"/>
            <a:ext cx="4663806" cy="4876801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59796" y="2807753"/>
            <a:ext cx="5916507" cy="344064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371600"/>
            <a:ext cx="2441448" cy="48768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4C796253-2EF8-E90A-A94F-8CFC6E39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6869"/>
          </a:xfrm>
        </p:spPr>
        <p:txBody>
          <a:bodyPr/>
          <a:lstStyle/>
          <a:p>
            <a:fld id="{88F73B11-D0F5-4A08-A19E-C560E2C4116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08304" cy="286869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60625" y="1371599"/>
            <a:ext cx="5272821" cy="4876801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4856" y="1371600"/>
            <a:ext cx="2441448" cy="487680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957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C04-CC91-4AAF-9006-A3A27BF3317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588424"/>
            <a:ext cx="4659735" cy="1645198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99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291" y="1373986"/>
            <a:ext cx="3493858" cy="345689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DACB-E986-4E04-ADB1-8913384D68D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373986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355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38E35-CB21-4D15-A87F-675D4C9EDCA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22181" y="1389134"/>
            <a:ext cx="627922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12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71600"/>
            <a:ext cx="3496147" cy="48768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CA9EE-AFE9-47E0-9F22-915E0A45E5A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872" y="1371600"/>
            <a:ext cx="7081431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59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3349754" cy="272145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7C504BF7-6B14-4333-B52B-ADBC1BCF47B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3402" y="1371600"/>
            <a:ext cx="7232901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4352926" cy="76677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84DE9B9-A2D7-1C5E-03A8-327B24C29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2522423"/>
            <a:ext cx="4328497" cy="370057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C1C21BA4-3737-442B-A21A-11EEBBB51C57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4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289" y="1371601"/>
            <a:ext cx="6632111" cy="606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8EF3DE08-A0D1-4FD8-A862-5499266B124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904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599"/>
            <a:ext cx="3950854" cy="48768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0290" y="2362534"/>
            <a:ext cx="6626014" cy="39015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303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599"/>
            <a:ext cx="6632111" cy="606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6C5A15EF-D72C-40D5-8663-2C77F9B42EC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799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53334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362534"/>
            <a:ext cx="6631984" cy="388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62B7BD4-B0D6-F90A-8AD2-9FA1574A17A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616880" y="1371599"/>
            <a:ext cx="3950854" cy="48768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68809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118" y="1371600"/>
            <a:ext cx="7172282" cy="60688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D56F8A71-DDE0-43CA-81C3-EA9C4963E6A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600"/>
            <a:ext cx="341376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0118" y="2362534"/>
            <a:ext cx="7172282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582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371600"/>
            <a:ext cx="7166187" cy="60688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E525A034-19B5-40C2-A08C-916D805B8A4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4953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362534"/>
            <a:ext cx="7166188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3B8151E2-ED8A-E9B1-A83A-CF01A37B5F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5593" y="1373529"/>
            <a:ext cx="341376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62373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077" y="1371599"/>
            <a:ext cx="4667987" cy="60688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DD95619-B63B-77E6-BE04-262FAAD1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C5EE04-1B51-44BB-A7D3-16AEE79C498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1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5882642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06805" y="2362535"/>
            <a:ext cx="4675596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734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1371600"/>
            <a:ext cx="4700225" cy="60688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84676EBB-6E0A-AD72-143B-39A640FF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9D7598-9667-4FA1-B20E-133F7DF30C6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362534"/>
            <a:ext cx="4700225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7DB94FD-8F2A-F0DB-71EB-3565077D4A2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99758" y="1371600"/>
            <a:ext cx="5882642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404400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1371599"/>
            <a:ext cx="3363514" cy="91440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BA07C19-A01D-B0B9-930B-9E9E7D2E65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E0F4D2D3-E754-452C-996E-A69280848F2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799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903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600"/>
            <a:ext cx="7197978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8887" y="2670047"/>
            <a:ext cx="3363513" cy="35783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419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1371599"/>
            <a:ext cx="3363513" cy="91440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17A20D89-EAE3-437D-A562-62F383E1F1E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776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5" y="2670047"/>
            <a:ext cx="3363386" cy="35783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58FD965-81B2-7E47-FC2D-2FFFA61C3D0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78198" y="1371600"/>
            <a:ext cx="7197978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1371600"/>
            <a:ext cx="2699254" cy="183650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81F196-B1D0-4451-BD57-0DCCBF9A6C9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1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1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697" y="1371600"/>
            <a:ext cx="7885606" cy="48768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3147" y="3592150"/>
            <a:ext cx="2699254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3800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1371600"/>
            <a:ext cx="2699254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505D57-3CC9-48CD-A7D7-2BE3E605D0A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592150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7A8F660F-60A6-785B-047B-B48856C7BB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96794" y="1371600"/>
            <a:ext cx="7885606" cy="48768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64009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7"/>
            <a:ext cx="4019522" cy="123613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2D9E4C7C-63E4-6DA5-5108-15D4DA6D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3F2E167B-0B78-4B36-8A57-49085AADF13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10966705" cy="325661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8927" y="5012267"/>
            <a:ext cx="6563474" cy="123613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2469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205330"/>
            <a:ext cx="3044954" cy="201958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E59D63EA-A363-194D-0D29-EB63BC89E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B9462E82-6E33-4AEF-AE7B-DF7C6F462D5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10966705" cy="244968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44358" y="4205331"/>
            <a:ext cx="7538041" cy="201958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5680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90892"/>
            <a:ext cx="3021873" cy="177354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83BF6E84-C156-49F4-8E82-3F8A64544B2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1390891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4127577"/>
            <a:ext cx="10972801" cy="2120823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6492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5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001F9C0A-11C5-40F2-BD0E-27AA70E2625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4952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501206"/>
            <a:ext cx="4513079" cy="374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12485" y="2501206"/>
            <a:ext cx="6066867" cy="374719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885909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9CDFB84F-677F-480D-99C2-22BB3A82E4A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7999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501206"/>
            <a:ext cx="4931835" cy="374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1240" y="2501206"/>
            <a:ext cx="5651159" cy="3747194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1C640349-FC90-47D1-9F46-4D34EA79222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5AEE073-61C4-86E8-2CDD-336E22094FD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2647" y="2501206"/>
            <a:ext cx="6066867" cy="374719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BB848C29-CF42-98B7-D019-4F384E06AD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069321" y="2501206"/>
            <a:ext cx="4513079" cy="374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42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371600"/>
            <a:ext cx="4675633" cy="9906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87C5F-6A61-4864-9518-A5514F3191A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746246"/>
            <a:ext cx="4675632" cy="350215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2502" y="1371600"/>
            <a:ext cx="5869899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28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3425954" cy="91745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669B-9B51-4A21-90C8-BB2E110B3FD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2673096"/>
            <a:ext cx="3429000" cy="357530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5359" y="1371600"/>
            <a:ext cx="7152279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85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3992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524A6D49-9F84-4D2B-BCDD-C2F0AED64BF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5AEE073-61C4-86E8-2CDD-336E22094FD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2647" y="2154876"/>
            <a:ext cx="8499719" cy="409352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15F7C753-E8D9-F006-4FC2-8BA2C55187F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496414" y="2154876"/>
            <a:ext cx="2085986" cy="4093524"/>
          </a:xfrm>
        </p:spPr>
        <p:txBody>
          <a:bodyPr anchor="t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932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3992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275F2D28-3585-40CA-9EB9-F9971C1AA1E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B8BA6868-FD5D-17A2-6CAE-853852E870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2169506"/>
            <a:ext cx="10966705" cy="329251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15F7C753-E8D9-F006-4FC2-8BA2C55187F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9600" y="5846064"/>
            <a:ext cx="10972800" cy="402336"/>
          </a:xfrm>
        </p:spPr>
        <p:txBody>
          <a:bodyPr anchor="b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0977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5325034"/>
            <a:ext cx="9762068" cy="91636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E73000B7-56E6-4A26-8487-963BD31161A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914400"/>
            <a:ext cx="10972800" cy="4105835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27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851345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7F0C99-9A58-96BA-B51F-4BEDCF1A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257802"/>
            <a:ext cx="10052304" cy="990598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6C671BD4-4E81-464B-A994-00077AEC80C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859DF22-2D22-B432-1B7E-1CCD6DA9C5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904875"/>
            <a:ext cx="10052050" cy="4038600"/>
          </a:xfrm>
        </p:spPr>
        <p:txBody>
          <a:bodyPr anchor="t"/>
          <a:lstStyle>
            <a:lvl1pPr>
              <a:lnSpc>
                <a:spcPct val="90000"/>
              </a:lnSpc>
              <a:buNone/>
              <a:defRPr sz="300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919335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9E00404-475A-8BBB-C6CE-9106DE692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0" y="3962400"/>
            <a:ext cx="2514599" cy="228599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78216DC3-F1E3-4679-A7A7-118C827BFDD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7D4B19F-6F49-D42F-E0D8-B04A3786655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904875"/>
            <a:ext cx="8077200" cy="5343524"/>
          </a:xfrm>
        </p:spPr>
        <p:txBody>
          <a:bodyPr anchor="t"/>
          <a:lstStyle>
            <a:lvl1pPr>
              <a:lnSpc>
                <a:spcPct val="90000"/>
              </a:lnSpc>
              <a:buNone/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5543294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2D412A9A-F88E-45C5-903F-2119D36A77A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1371600"/>
            <a:ext cx="10972800" cy="4876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19655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9AC46E-311C-49B6-8A0E-D2095F2328A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371600"/>
            <a:ext cx="10969752" cy="4876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3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F10A1-07E0-4636-B3BE-AE66FBE8467A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371600"/>
            <a:ext cx="10969752" cy="4876800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36313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572631"/>
            <a:ext cx="10966704" cy="64008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4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67E4DBA-3642-44F7-A1E0-3D9BCA1A53C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1371600"/>
            <a:ext cx="10966704" cy="3806142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165654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5561790"/>
            <a:ext cx="9137903" cy="686610"/>
          </a:xfrm>
        </p:spPr>
        <p:txBody>
          <a:bodyPr anchor="b">
            <a:normAutofit/>
          </a:bodyPr>
          <a:lstStyle>
            <a:lvl1pPr algn="r">
              <a:lnSpc>
                <a:spcPct val="120000"/>
              </a:lnSpc>
              <a:defRPr sz="24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5F8CD485-684D-4C35-BDF2-D991DF8FFCA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371600"/>
            <a:ext cx="9144000" cy="3806142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907629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5561790"/>
            <a:ext cx="5954436" cy="686610"/>
          </a:xfrm>
        </p:spPr>
        <p:txBody>
          <a:bodyPr anchor="b">
            <a:normAutofit/>
          </a:bodyPr>
          <a:lstStyle>
            <a:lvl1pPr algn="r">
              <a:lnSpc>
                <a:spcPct val="120000"/>
              </a:lnSpc>
              <a:defRPr sz="2000" b="1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CE2A531-A855-4FC2-83C9-7F8A2FC0A7A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388534"/>
            <a:ext cx="9137904" cy="3789208"/>
          </a:xfrm>
        </p:spPr>
        <p:txBody>
          <a:bodyPr anchor="t">
            <a:norm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3200" b="1" i="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539854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168559-22AF-9500-1ED0-9B034424F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69752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1B9D-4D4C-40F1-8133-7CADC817E0C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01207"/>
            <a:ext cx="5289973" cy="3747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6331" y="2501206"/>
            <a:ext cx="5289973" cy="374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80CBD81-BF35-3FFE-84F1-E86AACCA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10745788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F4366-C1D4-4687-A56C-18AD97870CF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255322"/>
            <a:ext cx="5289972" cy="554724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948211"/>
            <a:ext cx="5289972" cy="3300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330" y="2255322"/>
            <a:ext cx="5289974" cy="554724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948211"/>
            <a:ext cx="5302568" cy="3300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681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63656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60159-51DF-49CB-B647-76DC93F9005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1474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B478A-2183-4725-BFFE-F5022B99B7B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505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3801195" cy="12192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7116-79D5-4961-A943-953BCFEA97D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974848"/>
            <a:ext cx="3801195" cy="32735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371600"/>
            <a:ext cx="6774366" cy="4876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8978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3595634" cy="31242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5BE2D-D64B-4B05-B6D8-FA0500749FF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4800600"/>
            <a:ext cx="3595634" cy="1460174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84991" y="1371600"/>
            <a:ext cx="699741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637986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72800" cy="1865376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BD5A60-72B7-4332-B4B3-40B2CC6142C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621024"/>
            <a:ext cx="10972800" cy="262737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490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E2B004-0AA0-4203-BDB3-16A698CB99F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870748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12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1760"/>
            <a:ext cx="10972799" cy="735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501206"/>
            <a:ext cx="10966703" cy="372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35AEAE7-3C36-4273-AC18-E54349BDD51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085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7" r:id="rId1"/>
    <p:sldLayoutId id="2147483894" r:id="rId2"/>
    <p:sldLayoutId id="2147483893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48" r:id="rId13"/>
    <p:sldLayoutId id="2147483904" r:id="rId14"/>
    <p:sldLayoutId id="2147483905" r:id="rId15"/>
    <p:sldLayoutId id="2147483906" r:id="rId16"/>
    <p:sldLayoutId id="2147483907" r:id="rId17"/>
    <p:sldLayoutId id="2147483908" r:id="rId18"/>
    <p:sldLayoutId id="2147483951" r:id="rId19"/>
    <p:sldLayoutId id="2147483909" r:id="rId20"/>
    <p:sldLayoutId id="2147483910" r:id="rId21"/>
    <p:sldLayoutId id="2147483911" r:id="rId22"/>
    <p:sldLayoutId id="2147483912" r:id="rId23"/>
    <p:sldLayoutId id="2147483913" r:id="rId24"/>
    <p:sldLayoutId id="2147483914" r:id="rId25"/>
    <p:sldLayoutId id="2147483915" r:id="rId26"/>
    <p:sldLayoutId id="2147483916" r:id="rId27"/>
    <p:sldLayoutId id="2147483917" r:id="rId28"/>
    <p:sldLayoutId id="2147483918" r:id="rId29"/>
    <p:sldLayoutId id="2147483919" r:id="rId30"/>
    <p:sldLayoutId id="2147483920" r:id="rId31"/>
    <p:sldLayoutId id="2147483921" r:id="rId32"/>
    <p:sldLayoutId id="2147483922" r:id="rId33"/>
    <p:sldLayoutId id="2147483923" r:id="rId34"/>
    <p:sldLayoutId id="2147483924" r:id="rId35"/>
    <p:sldLayoutId id="2147483925" r:id="rId36"/>
    <p:sldLayoutId id="2147483926" r:id="rId37"/>
    <p:sldLayoutId id="2147483949" r:id="rId38"/>
    <p:sldLayoutId id="2147483950" r:id="rId39"/>
    <p:sldLayoutId id="2147483927" r:id="rId40"/>
    <p:sldLayoutId id="2147483928" r:id="rId41"/>
    <p:sldLayoutId id="2147483929" r:id="rId42"/>
    <p:sldLayoutId id="2147483931" r:id="rId43"/>
    <p:sldLayoutId id="2147483932" r:id="rId44"/>
    <p:sldLayoutId id="2147483952" r:id="rId45"/>
    <p:sldLayoutId id="2147483936" r:id="rId46"/>
    <p:sldLayoutId id="2147483937" r:id="rId47"/>
    <p:sldLayoutId id="2147483938" r:id="rId48"/>
    <p:sldLayoutId id="2147483939" r:id="rId49"/>
    <p:sldLayoutId id="2147483940" r:id="rId50"/>
    <p:sldLayoutId id="2147483941" r:id="rId51"/>
    <p:sldLayoutId id="2147483942" r:id="rId52"/>
    <p:sldLayoutId id="2147483943" r:id="rId53"/>
    <p:sldLayoutId id="2147483944" r:id="rId54"/>
    <p:sldLayoutId id="2147483945" r:id="rId55"/>
    <p:sldLayoutId id="2147483946" r:id="rId5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b="1" i="0" kern="1200" cap="all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25" pos="7296" userDrawn="1">
          <p15:clr>
            <a:srgbClr val="F26B43"/>
          </p15:clr>
        </p15:guide>
        <p15:guide id="26" pos="384" userDrawn="1">
          <p15:clr>
            <a:srgbClr val="F26B43"/>
          </p15:clr>
        </p15:guide>
        <p15:guide id="27" orient="horz" pos="192" userDrawn="1">
          <p15:clr>
            <a:srgbClr val="F26B43"/>
          </p15:clr>
        </p15:guide>
        <p15:guide id="28" orient="horz" pos="3936" userDrawn="1">
          <p15:clr>
            <a:srgbClr val="F26B43"/>
          </p15:clr>
        </p15:guide>
        <p15:guide id="29" orient="horz" pos="384" userDrawn="1">
          <p15:clr>
            <a:srgbClr val="F26B43"/>
          </p15:clr>
        </p15:guide>
        <p15:guide id="30" orient="horz" pos="4128" userDrawn="1">
          <p15:clr>
            <a:srgbClr val="F26B43"/>
          </p15:clr>
        </p15:guide>
        <p15:guide id="31" orient="horz" pos="864" userDrawn="1">
          <p15:clr>
            <a:srgbClr val="F26B43"/>
          </p15:clr>
        </p15:guide>
        <p15:guide id="32" pos="6720" userDrawn="1">
          <p15:clr>
            <a:srgbClr val="F26B43"/>
          </p15:clr>
        </p15:guide>
        <p15:guide id="33" pos="6096" userDrawn="1">
          <p15:clr>
            <a:srgbClr val="F26B43"/>
          </p15:clr>
        </p15:guide>
        <p15:guide id="34" pos="960" userDrawn="1">
          <p15:clr>
            <a:srgbClr val="F26B43"/>
          </p15:clr>
        </p15:guide>
        <p15:guide id="35" pos="15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835F-BBCE-C802-8030-3C0AF4804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14400"/>
            <a:ext cx="10668000" cy="1142277"/>
          </a:xfrm>
        </p:spPr>
        <p:txBody>
          <a:bodyPr>
            <a:normAutofit/>
          </a:bodyPr>
          <a:lstStyle/>
          <a:p>
            <a:r>
              <a:rPr lang="en-US" dirty="0"/>
              <a:t>Hotel Booking Cancellation Prediction (Classification Project)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EC147-F548-536E-19C5-8A1E720CFC66}"/>
              </a:ext>
            </a:extLst>
          </p:cNvPr>
          <p:cNvSpPr txBox="1"/>
          <p:nvPr/>
        </p:nvSpPr>
        <p:spPr>
          <a:xfrm>
            <a:off x="800100" y="2362200"/>
            <a:ext cx="10287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Predict whether a hotel booking will be canceled (</a:t>
            </a:r>
            <a:r>
              <a:rPr lang="en-US" dirty="0" err="1"/>
              <a:t>is_canceled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Type: Binary Classification Problem</a:t>
            </a:r>
          </a:p>
          <a:p>
            <a:endParaRPr lang="en-US" dirty="0"/>
          </a:p>
          <a:p>
            <a:r>
              <a:rPr lang="en-US" dirty="0"/>
              <a:t>Dataset: Hotel Booking Data</a:t>
            </a:r>
          </a:p>
          <a:p>
            <a:endParaRPr lang="en-US" dirty="0"/>
          </a:p>
          <a:p>
            <a:r>
              <a:rPr lang="en-US" dirty="0"/>
              <a:t>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preprocessing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multiple ML models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ensemble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98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9CA1-95AF-D35E-B573-079D45FE3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0"/>
            <a:ext cx="10972799" cy="735400"/>
          </a:xfrm>
        </p:spPr>
        <p:txBody>
          <a:bodyPr/>
          <a:lstStyle/>
          <a:p>
            <a:r>
              <a:rPr lang="en-US" dirty="0"/>
              <a:t>Models &amp; Approach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D62B90-C086-5425-8C9F-C349EEB757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345712"/>
            <a:ext cx="53562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split: 70% Train / 15% Validation / 15% Test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used: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(Gradient Boosting) 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CA796-F903-FE2C-15F7-17AF487C1051}"/>
              </a:ext>
            </a:extLst>
          </p:cNvPr>
          <p:cNvSpPr txBox="1"/>
          <p:nvPr/>
        </p:nvSpPr>
        <p:spPr>
          <a:xfrm>
            <a:off x="6743699" y="2133600"/>
            <a:ext cx="4114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Evaluation Metrics: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Accuracy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Precision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Recall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F1-score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ROC-AUC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9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5494-91A6-6585-E99E-37BAEB40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3400"/>
            <a:ext cx="10972799" cy="735400"/>
          </a:xfrm>
        </p:spPr>
        <p:txBody>
          <a:bodyPr/>
          <a:lstStyle/>
          <a:p>
            <a:r>
              <a:rPr lang="en-US" dirty="0"/>
              <a:t>Model Performance Summary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5919A7-B8BB-905F-7D4C-CF23A3CCC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582340"/>
            <a:ext cx="576311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Model: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F1-score and ROC-AUC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observations: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→ high precision, low recall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→ balanced performance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 &amp; Logistic Regression → lower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used: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 curves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matrices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9C7D3-6219-7EDE-6E26-B6B542EB1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4" b="9737"/>
          <a:stretch>
            <a:fillRect/>
          </a:stretch>
        </p:blipFill>
        <p:spPr>
          <a:xfrm>
            <a:off x="6669619" y="1743859"/>
            <a:ext cx="5375309" cy="343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94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5213-23C6-C0D9-833A-ED86BAF7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799" cy="735400"/>
          </a:xfrm>
        </p:spPr>
        <p:txBody>
          <a:bodyPr/>
          <a:lstStyle/>
          <a:p>
            <a:r>
              <a:rPr lang="en-US" dirty="0"/>
              <a:t>Ensemble Models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8C3A0-6556-0E9D-F854-BB3537A97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400"/>
            <a:ext cx="4191000" cy="3722408"/>
          </a:xfrm>
        </p:spPr>
        <p:txBody>
          <a:bodyPr>
            <a:normAutofit/>
          </a:bodyPr>
          <a:lstStyle/>
          <a:p>
            <a:r>
              <a:rPr lang="en-US" dirty="0"/>
              <a:t>Top 3 Models: 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Random forest</a:t>
            </a:r>
          </a:p>
          <a:p>
            <a:pPr lvl="1"/>
            <a:r>
              <a:rPr lang="en-US" dirty="0"/>
              <a:t>SVC</a:t>
            </a:r>
          </a:p>
          <a:p>
            <a:r>
              <a:rPr lang="en-US" dirty="0"/>
              <a:t>Ensemble Methods: </a:t>
            </a:r>
          </a:p>
          <a:p>
            <a:pPr lvl="1"/>
            <a:r>
              <a:rPr lang="en-US" dirty="0"/>
              <a:t>Voting Classifier </a:t>
            </a:r>
          </a:p>
          <a:p>
            <a:pPr lvl="1"/>
            <a:r>
              <a:rPr lang="en-US" dirty="0"/>
              <a:t>Bayesian (weighted average)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8C768-1447-423E-CA1D-397B493862ED}"/>
              </a:ext>
            </a:extLst>
          </p:cNvPr>
          <p:cNvSpPr txBox="1"/>
          <p:nvPr/>
        </p:nvSpPr>
        <p:spPr>
          <a:xfrm>
            <a:off x="5943600" y="1828800"/>
            <a:ext cx="5410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Result</a:t>
            </a:r>
            <a:r>
              <a:rPr lang="en-US" sz="1400"/>
              <a:t>: </a:t>
            </a:r>
          </a:p>
          <a:p>
            <a:endParaRPr lang="en-US" sz="1400" dirty="0"/>
          </a:p>
          <a:p>
            <a:pPr lvl="1"/>
            <a:r>
              <a:rPr lang="en-US" sz="1400" dirty="0"/>
              <a:t>Ensemble improved stability and overall performance </a:t>
            </a:r>
          </a:p>
          <a:p>
            <a:pPr lvl="1"/>
            <a:r>
              <a:rPr lang="en-US" sz="1400" dirty="0"/>
              <a:t>Better generalization on test data </a:t>
            </a:r>
          </a:p>
          <a:p>
            <a:pPr lvl="1"/>
            <a:endParaRPr lang="en-US" sz="1400" dirty="0"/>
          </a:p>
          <a:p>
            <a:r>
              <a:rPr lang="en-US" sz="1400" b="1" dirty="0"/>
              <a:t>Conclusion:</a:t>
            </a:r>
          </a:p>
          <a:p>
            <a:endParaRPr lang="en-US" sz="1400" dirty="0"/>
          </a:p>
          <a:p>
            <a:r>
              <a:rPr lang="en-US" sz="1400" dirty="0"/>
              <a:t>Combining models gives more reliable predictions </a:t>
            </a:r>
          </a:p>
          <a:p>
            <a:r>
              <a:rPr lang="en-US" sz="1400" dirty="0"/>
              <a:t>Ensemble methods outperform single models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76105415"/>
      </p:ext>
    </p:extLst>
  </p:cSld>
  <p:clrMapOvr>
    <a:masterClrMapping/>
  </p:clrMapOvr>
</p:sld>
</file>

<file path=ppt/theme/theme1.xml><?xml version="1.0" encoding="utf-8"?>
<a:theme xmlns:a="http://schemas.openxmlformats.org/drawingml/2006/main" name="Monochrome blac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77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chrome black_5bea5add-6c97-4a41-a1fa-a039388976df_wac_v2" id="{9B2EB732-E258-47BC-8927-E73431036F1F}" vid="{31795664-2011-4E74-82BD-ADEEE70EBC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39acab5-c9e1-4619-9f66-b8ad7702130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4DB08896ACC14F9280D66B8F02D8DA" ma:contentTypeVersion="12" ma:contentTypeDescription="Create a new document." ma:contentTypeScope="" ma:versionID="14aea247394639edc13e2677b058af77">
  <xsd:schema xmlns:xsd="http://www.w3.org/2001/XMLSchema" xmlns:xs="http://www.w3.org/2001/XMLSchema" xmlns:p="http://schemas.microsoft.com/office/2006/metadata/properties" xmlns:ns3="239acab5-c9e1-4619-9f66-b8ad7702130e" xmlns:ns4="e711df67-f573-4694-b7c4-804619bd4016" targetNamespace="http://schemas.microsoft.com/office/2006/metadata/properties" ma:root="true" ma:fieldsID="ea07630897b3a409c5d95eaddd2763b4" ns3:_="" ns4:_="">
    <xsd:import namespace="239acab5-c9e1-4619-9f66-b8ad7702130e"/>
    <xsd:import namespace="e711df67-f573-4694-b7c4-804619bd401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9acab5-c9e1-4619-9f66-b8ad770213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1df67-f573-4694-b7c4-804619bd4016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e711df67-f573-4694-b7c4-804619bd4016"/>
    <ds:schemaRef ds:uri="http://purl.org/dc/elements/1.1/"/>
    <ds:schemaRef ds:uri="http://purl.org/dc/terms/"/>
    <ds:schemaRef ds:uri="239acab5-c9e1-4619-9f66-b8ad7702130e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FD0A339-B62A-4086-B2DE-5B9A3ABB65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9acab5-c9e1-4619-9f66-b8ad7702130e"/>
    <ds:schemaRef ds:uri="e711df67-f573-4694-b7c4-804619bd40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{C531D15F-48F9-4255-8EBA-021C5B4DD801}b1461aca-2317-43ae-b059-ba831cfc0fef-TF5bea5add-6c97-4a41-a1fa-a039388976df789966be_win32</Template>
  <TotalTime>502</TotalTime>
  <Words>212</Words>
  <Application>Microsoft Office PowerPoint</Application>
  <PresentationFormat>Widescreen</PresentationFormat>
  <Paragraphs>63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Neue Haas Grotesk Text Pro</vt:lpstr>
      <vt:lpstr>Monochrome black</vt:lpstr>
      <vt:lpstr>Hotel Booking Cancellation Prediction (Classification Project)</vt:lpstr>
      <vt:lpstr>Models &amp; Approach </vt:lpstr>
      <vt:lpstr>Model Performance Summary </vt:lpstr>
      <vt:lpstr>Ensemble Models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cherluk.sumdin-W214145148</dc:creator>
  <cp:lastModifiedBy>cherluk.sumdin-W214145148</cp:lastModifiedBy>
  <cp:revision>2</cp:revision>
  <dcterms:created xsi:type="dcterms:W3CDTF">2026-05-04T19:24:03Z</dcterms:created>
  <dcterms:modified xsi:type="dcterms:W3CDTF">2026-05-05T03:47:46Z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0x010100114DB08896ACC14F9280D66B8F02D8DA</vt:lpwstr>
  </property>
  <property fmtid="{D5CDD505-2E9C-101B-9397-08002B2CF9AE}" pid="3" name="MediaServiceImageTags">
    <vt:lpwstr/>
  </property>
</Properties>
</file>